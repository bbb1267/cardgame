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6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3958d05d3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3958d05d3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3958d05d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3958d05d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958d05d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958d05d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3958d05d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3958d05d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3958d05d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3958d05d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958d05d3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3958d05d3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3958d05d3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3958d05d3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3958d05d3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3958d05d3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3958d05d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3958d05d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3958d05d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3958d05d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3958d05d3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3958d05d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3958d05d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3958d05d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37333" y="953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3080"/>
              <a:t>Разработка коллекционная карточной игры «Dark Card» с применением объектно-ориентированного подхода в среде Unity.</a:t>
            </a:r>
            <a:endParaRPr sz="30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3051825"/>
            <a:ext cx="8520600" cy="1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Академия топ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Санкт-Петербург, 2025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Проект выполнили: 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Кулягин Владимир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Михайлов Богдан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Руководитель:</a:t>
            </a:r>
            <a:endParaRPr sz="1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/>
              <a:t>Макаров Максим Николаевич    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Актуальность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Популяризация инди-хоррор стилистики: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Рост интереса аудитории к играм с минималистичной «грязной» графикой (стиль Threshold/Dithering).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Оптимизация разработки: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Использование архитектуры на базе ScriptableObjects позволяет сократить время на добавление нового контента.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Геймдизайн без лишнего шума:</a:t>
            </a:r>
            <a:r>
              <a:rPr lang="ru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Актуальность создания чисто геймплейных проектов без навязанного нарратива, фокусирующихся на тактике.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Проблемы проекта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Высокая сложность и ресурсозатратность разработки ККИ при использовании жестко связанных систем кода, а также визуальная однотипность современных мобильных и десктопных карточных игр.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и задачи проекта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Цель: </a:t>
            </a:r>
            <a:r>
              <a:rPr lang="ru"/>
              <a:t>Разработать функциональный прототип тактической карточной игры с гибкой архитектурой данных и уникальным визуальным стилем «чернильной» графики.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Задачи: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Изучить</a:t>
            </a:r>
            <a:r>
              <a:rPr lang="ru" sz="1100">
                <a:solidFill>
                  <a:srgbClr val="000000"/>
                </a:solidFill>
              </a:rPr>
              <a:t> принципы работы со ScriptableObjects в Unity для управления данными.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Реализовать</a:t>
            </a:r>
            <a:r>
              <a:rPr lang="ru" sz="1100">
                <a:solidFill>
                  <a:srgbClr val="000000"/>
                </a:solidFill>
              </a:rPr>
              <a:t> систему динамического отображения характеристик карт на игровом поле.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Проанализировать</a:t>
            </a:r>
            <a:r>
              <a:rPr lang="ru" sz="1100">
                <a:solidFill>
                  <a:srgbClr val="000000"/>
                </a:solidFill>
              </a:rPr>
              <a:t> и внедрить методы постобработки изображений для достижения стиля «Threshold».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Построить</a:t>
            </a:r>
            <a:r>
              <a:rPr lang="ru" sz="1100">
                <a:solidFill>
                  <a:srgbClr val="000000"/>
                </a:solidFill>
              </a:rPr>
              <a:t> логику взаимодействия карт (система атаки, расчета урона и мана-стоимости).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Сделать выводы</a:t>
            </a:r>
            <a:r>
              <a:rPr lang="ru" sz="1100">
                <a:solidFill>
                  <a:srgbClr val="000000"/>
                </a:solidFill>
              </a:rPr>
              <a:t> об эффективности выбранной архитектуры проекта.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Теоретическая основа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ООП в геймдеве:</a:t>
            </a:r>
            <a:r>
              <a:rPr lang="ru" sz="1100">
                <a:solidFill>
                  <a:srgbClr val="000000"/>
                </a:solidFill>
              </a:rPr>
              <a:t> Принципы инкапсуляции и полиморфизма при создании игровых сущностей.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Data-Driven Design:</a:t>
            </a:r>
            <a:r>
              <a:rPr lang="ru" sz="1100">
                <a:solidFill>
                  <a:srgbClr val="000000"/>
                </a:solidFill>
              </a:rPr>
              <a:t> Подход, при котором логика игры отделена от данных (характеристик карт).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Теория цвета и контраста:</a:t>
            </a:r>
            <a:r>
              <a:rPr lang="ru" sz="1100">
                <a:solidFill>
                  <a:srgbClr val="000000"/>
                </a:solidFill>
              </a:rPr>
              <a:t> Бинарное изображение (только черный и белый пиксели) как инструмент создания атмосферы.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Инструменты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Движок:</a:t>
            </a:r>
            <a:r>
              <a:rPr lang="ru" sz="1100">
                <a:solidFill>
                  <a:srgbClr val="000000"/>
                </a:solidFill>
              </a:rPr>
              <a:t> Unity 2022.3 LTS.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Язык:</a:t>
            </a:r>
            <a:r>
              <a:rPr lang="ru" sz="1100">
                <a:solidFill>
                  <a:srgbClr val="000000"/>
                </a:solidFill>
              </a:rPr>
              <a:t> C# (.NET 6).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Графика:</a:t>
            </a:r>
            <a:r>
              <a:rPr lang="ru" sz="1100">
                <a:solidFill>
                  <a:srgbClr val="000000"/>
                </a:solidFill>
              </a:rPr>
              <a:t> Adobe Photoshop (фильтры Threshold, Ripple, Noise).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Шрифты:</a:t>
            </a:r>
            <a:r>
              <a:rPr lang="ru" sz="1100">
                <a:solidFill>
                  <a:srgbClr val="000000"/>
                </a:solidFill>
              </a:rPr>
              <a:t> TextMeshPro (для сохранения четкости при масштабировании).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Версионный контроль:</a:t>
            </a:r>
            <a:r>
              <a:rPr lang="ru" sz="1100">
                <a:solidFill>
                  <a:srgbClr val="000000"/>
                </a:solidFill>
              </a:rPr>
              <a:t> Git / GitHub.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Практическая часть 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Архитектура данных:</a:t>
            </a:r>
            <a:r>
              <a:rPr lang="ru" sz="1100">
                <a:solidFill>
                  <a:srgbClr val="000000"/>
                </a:solidFill>
              </a:rPr>
              <a:t> Параметры </a:t>
            </a:r>
            <a:r>
              <a:rPr lang="ru" sz="1100">
                <a:solidFill>
                  <a:srgbClr val="188038"/>
                </a:solidFill>
              </a:rPr>
              <a:t>cost</a:t>
            </a:r>
            <a:r>
              <a:rPr lang="ru" sz="1100">
                <a:solidFill>
                  <a:srgbClr val="000000"/>
                </a:solidFill>
              </a:rPr>
              <a:t>, </a:t>
            </a:r>
            <a:r>
              <a:rPr lang="ru" sz="1100">
                <a:solidFill>
                  <a:srgbClr val="188038"/>
                </a:solidFill>
              </a:rPr>
              <a:t>damage</a:t>
            </a:r>
            <a:r>
              <a:rPr lang="ru" sz="1100">
                <a:solidFill>
                  <a:srgbClr val="000000"/>
                </a:solidFill>
              </a:rPr>
              <a:t> и </a:t>
            </a:r>
            <a:r>
              <a:rPr lang="ru" sz="1100">
                <a:solidFill>
                  <a:srgbClr val="188038"/>
                </a:solidFill>
              </a:rPr>
              <a:t>health</a:t>
            </a:r>
            <a:r>
              <a:rPr lang="ru" sz="1100">
                <a:solidFill>
                  <a:srgbClr val="000000"/>
                </a:solidFill>
              </a:rPr>
              <a:t> определяются в ассетах </a:t>
            </a:r>
            <a:r>
              <a:rPr lang="ru" sz="1100">
                <a:solidFill>
                  <a:srgbClr val="188038"/>
                </a:solidFill>
              </a:rPr>
              <a:t>CardData</a:t>
            </a:r>
            <a:r>
              <a:rPr lang="ru" sz="1100">
                <a:solidFill>
                  <a:srgbClr val="000000"/>
                </a:solidFill>
              </a:rPr>
              <a:t>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Логика боя:</a:t>
            </a:r>
            <a:r>
              <a:rPr lang="ru" sz="1100">
                <a:solidFill>
                  <a:srgbClr val="000000"/>
                </a:solidFill>
              </a:rPr>
              <a:t> Механика </a:t>
            </a:r>
            <a:r>
              <a:rPr lang="ru" sz="1100">
                <a:solidFill>
                  <a:srgbClr val="188038"/>
                </a:solidFill>
              </a:rPr>
              <a:t>TakeDamage</a:t>
            </a:r>
            <a:r>
              <a:rPr lang="ru" sz="1100">
                <a:solidFill>
                  <a:srgbClr val="000000"/>
                </a:solidFill>
              </a:rPr>
              <a:t> реализована как для отдельных карт, так и для героев (</a:t>
            </a:r>
            <a:r>
              <a:rPr lang="ru" sz="1100">
                <a:solidFill>
                  <a:srgbClr val="188038"/>
                </a:solidFill>
              </a:rPr>
              <a:t>Entity</a:t>
            </a:r>
            <a:r>
              <a:rPr lang="ru" sz="1100">
                <a:solidFill>
                  <a:srgbClr val="000000"/>
                </a:solidFill>
              </a:rPr>
              <a:t>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Менеджмент ходов:</a:t>
            </a:r>
            <a:r>
              <a:rPr lang="ru" sz="1100">
                <a:solidFill>
                  <a:srgbClr val="000000"/>
                </a:solidFill>
              </a:rPr>
              <a:t> Переключение между игроком и ботом с автоматическим пополнением маны и добором карт.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2635800"/>
            <a:ext cx="6225975" cy="230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Аналитика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</a:rPr>
              <a:t>Эффективность ИИ:</a:t>
            </a:r>
            <a:r>
              <a:rPr lang="ru" sz="1400">
                <a:solidFill>
                  <a:srgbClr val="000000"/>
                </a:solidFill>
              </a:rPr>
              <a:t> Реализованный бот последовательно анализирует руку, сопоставляет стоимость карт с текущей маной и выбирает приоритетные цели для атаки.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</a:rPr>
              <a:t>Гибкость системы:</a:t>
            </a:r>
            <a:r>
              <a:rPr lang="ru" sz="1400">
                <a:solidFill>
                  <a:srgbClr val="000000"/>
                </a:solidFill>
              </a:rPr>
              <a:t> Благодаря </a:t>
            </a:r>
            <a:r>
              <a:rPr lang="ru" sz="1400">
                <a:solidFill>
                  <a:srgbClr val="188038"/>
                </a:solidFill>
              </a:rPr>
              <a:t>Setup(CardData newData)</a:t>
            </a:r>
            <a:r>
              <a:rPr lang="ru" sz="1400">
                <a:solidFill>
                  <a:srgbClr val="000000"/>
                </a:solidFill>
              </a:rPr>
              <a:t>, один префаб карты может отображать любую из созданных в проекте сущностей.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400">
                <a:solidFill>
                  <a:srgbClr val="000000"/>
                </a:solidFill>
              </a:rPr>
              <a:t>Динамика ресурсов:</a:t>
            </a:r>
            <a:r>
              <a:rPr lang="ru" sz="1400">
                <a:solidFill>
                  <a:srgbClr val="000000"/>
                </a:solidFill>
              </a:rPr>
              <a:t> Установленный лимит маны (15) и стартовые параметры обеспечивают быстрый темп партии.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Тестирование проекта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Что тестировали:</a:t>
            </a:r>
            <a:r>
              <a:rPr lang="ru" sz="1100">
                <a:solidFill>
                  <a:srgbClr val="000000"/>
                </a:solidFill>
              </a:rPr>
              <a:t> Логику завершения игры при HP &lt;= 0, корректность работы флага </a:t>
            </a:r>
            <a:r>
              <a:rPr lang="ru" sz="1100">
                <a:solidFill>
                  <a:srgbClr val="188038"/>
                </a:solidFill>
              </a:rPr>
              <a:t>hasAttacked</a:t>
            </a:r>
            <a:r>
              <a:rPr lang="ru" sz="1100">
                <a:solidFill>
                  <a:srgbClr val="000000"/>
                </a:solidFill>
              </a:rPr>
              <a:t> (запрет повторной атаки за ход).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Каким способом:</a:t>
            </a:r>
            <a:r>
              <a:rPr lang="ru" sz="1100">
                <a:solidFill>
                  <a:srgbClr val="000000"/>
                </a:solidFill>
              </a:rPr>
              <a:t> Функциональные тесты взаимодействия игрока с вражеским героем (</a:t>
            </a:r>
            <a:r>
              <a:rPr lang="ru" sz="1100">
                <a:solidFill>
                  <a:srgbClr val="188038"/>
                </a:solidFill>
              </a:rPr>
              <a:t>OnEnemyHeroClick</a:t>
            </a:r>
            <a:r>
              <a:rPr lang="ru" sz="1100">
                <a:solidFill>
                  <a:srgbClr val="000000"/>
                </a:solidFill>
              </a:rPr>
              <a:t>) и карты с картой.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Вывод:</a:t>
            </a:r>
            <a:r>
              <a:rPr lang="ru" sz="1100">
                <a:solidFill>
                  <a:srgbClr val="000000"/>
                </a:solidFill>
              </a:rPr>
              <a:t> Все основные триггеры (смерть героя, конец хода, выкладывание карт) работают корректно.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Итоговые выводы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Достигнута</a:t>
            </a:r>
            <a:r>
              <a:rPr lang="ru" sz="1100">
                <a:solidFill>
                  <a:srgbClr val="000000"/>
                </a:solidFill>
              </a:rPr>
              <a:t> полная автоматизация игрового цикла.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Реализована</a:t>
            </a:r>
            <a:r>
              <a:rPr lang="ru" sz="1100">
                <a:solidFill>
                  <a:srgbClr val="000000"/>
                </a:solidFill>
              </a:rPr>
              <a:t> удобная система добавления контента через ScriptableObjects.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rgbClr val="000000"/>
                </a:solidFill>
              </a:rPr>
              <a:t>Создан</a:t>
            </a:r>
            <a:r>
              <a:rPr lang="ru" sz="1100">
                <a:solidFill>
                  <a:srgbClr val="000000"/>
                </a:solidFill>
              </a:rPr>
              <a:t> масштабируемый интерфейс, отображающий актуальное состояние игры в реальном времени.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Перспективы развития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Добавление системы особых способностей карт (боевые кличи, предсмертные хрипы).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Усложнение алгоритмов ИИ для более глубокого анализа стола.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Внедрение визуальных эффектов атаки и тряски камеры.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Практическая ценность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000000"/>
                </a:solidFill>
              </a:rPr>
              <a:t>Проект представляет собой готовую техническую базу для создания полноценной ККИ. Архитектура </a:t>
            </a:r>
            <a:r>
              <a:rPr lang="ru" sz="1500">
                <a:solidFill>
                  <a:srgbClr val="188038"/>
                </a:solidFill>
              </a:rPr>
              <a:t>GameManager</a:t>
            </a:r>
            <a:r>
              <a:rPr lang="ru" sz="1500">
                <a:solidFill>
                  <a:srgbClr val="000000"/>
                </a:solidFill>
              </a:rPr>
              <a:t> и </a:t>
            </a:r>
            <a:r>
              <a:rPr lang="ru" sz="1500">
                <a:solidFill>
                  <a:srgbClr val="188038"/>
                </a:solidFill>
              </a:rPr>
              <a:t>CardDisplay</a:t>
            </a:r>
            <a:r>
              <a:rPr lang="ru" sz="1500">
                <a:solidFill>
                  <a:srgbClr val="000000"/>
                </a:solidFill>
              </a:rPr>
              <a:t> позволяет использовать наработки для создания игр других жанров, использующих карточные механики.</a:t>
            </a:r>
            <a:endParaRPr sz="2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